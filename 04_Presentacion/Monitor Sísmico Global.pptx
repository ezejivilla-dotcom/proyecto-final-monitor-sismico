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EZEQUIEL (0:20) — Buenos días, profesor. Somos el Grupo B y les presentamos el Monitor Sísmico Global: un sistema de big data de extremo a extremo, construido con datos reales del Servicio Geológico de Estados Unidos. Yo soy Ezequiel; mi compañero Adonis completará la segunda mitad.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EZEQUIEL (0:25) — Los terremotos se registran sin parar y el USGS publica sus datos abiertos, pero en formatos distintos y con correcciones posteriores. Nuestro reto: integrarlos, confiar en su calidad y convertirlos en respuestas. El resultado: 81 mil sismos reales de cinco años, en cinco capas, de la API a un dashboard, sin pasos manuales.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EZEQUIEL (0:25) — Así funciona. Tres fuentes del USGS entran por Apache NiFi, que valida y deja archivos en una zona intermedia. PySpark los depura, los enriquece y los agrupa. PostgreSQL los guarda particionados por mes. Desde ahí, Adonis les mostrará el análisis en SQL y los dashboards en Grafana. [Opcional: Las capas se comunican por archivos: cada una se prueba y se repite sin tocar las demás.]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EZEQUIEL (0:30) — En la ingesta construimos dos pipelines: uno en vivo, que consulta la API cada cinco minutos, y otro histórico, con 61 ventanas mensuales. Cada registro debe superar seis reglas de calidad; lo que falla va a una carpeta de errores con su motivo. Una caché elimina los duplicados, el backpressure protege el sistema y un limitador espacia las consultas a una cada cinco segundos. [Opcional: En la carga final: cero registros rechazados.]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EZEQUIEL (0:40) — Spark limpia, descarta lo menor a magnitud 4, resuelve duplicados, calcula energía y réplicas, y agrupa los epicentros en 12 zonas con KMeans, en unos 40 segundos. El hallazgo clave fue de calidad: el 41 % de las profundidades era un valor por defecto del USGS; las marcamos en lugar de borrarlas. En PostgreSQL, 85 particiones mensuales hacen que cada consulta lea solo lo necesario, y la carga es idempotente: en una transacción borra versiones obsoletas, actualiza lo que cambió y poda lo retirado. Repetirla nunca duplica. Adonis, te paso.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ADONIS (0:35) — Gracias, Ezequiel. Con los datos listos, la capa de análisis responde cinco preguntas con SQL avanzado. Por ejemplo: Rusia concentra el 68 % de la energía analizada, por un solo evento, el terremoto de magnitud 8.8 de Kamchatka. El riesgo de tsunami es de 2.8 % en los primeros 35 kilómetros y baja a entre 0.2 y 0.3 % bajo los 300 kilómetros. [Opcional: Y detectamos meses de actividad excepcional, como Turquía en 2023 y Grecia en 2025, con más de seis sigmas.]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ADONIS (0:25) — Medimos el rendimiento con un benchmark reproducible. Gracias al particionamiento, una consulta mensual lee 47 bloques en lugar de 3 431: 98.6 % menos. Los índices reducen un 78 % las lecturas en búsquedas selectivas. [Opcional: Los tiempos varían entre corridas, por eso nos apoyamos en los bloques leídos, que son una medida estable.]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ADONIS (0:30) — En visualización, Grafana se configura completamente como código: al levantar el sistema, los dos dashboards aparecen solos. El de negocio tiene nueve paneles: mapa de epicentros, magnitud contra profundidad, serie de energía y las 12 zonas, con filtros por región, zona y magnitud. Cada panel filtra por fecha, así aprovecha las particiones mensuales. El operacional tiene once: salud de NiFi y Spark, duplicados, errores y rechazos, actualizado cada 30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ADONIS (0:30) — En resumen, las cinco capas funcionan como un solo sistema, reproducible con Docker en minutos. Nos llevamos tres aprendizajes. Primero: los datos reales exigen desconfianza; gran parte del esfuerzo fue descubrir valores por defecto y duplicados. Segundo: la idempotencia y la trazabilidad hacen confiable a un pipeline. Y tercero: verificar de extremo a extremo vale la pena; los errores más importantes aparecieron al unir nuestras dos mitades. Gracias; quedamos atentos a sus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1549301" y="535946"/>
            <a:ext cx="7641125" cy="502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1549301" y="1343619"/>
            <a:ext cx="9829899" cy="4701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1549301" y="535946"/>
            <a:ext cx="7641125" cy="502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1549301" y="1343619"/>
            <a:ext cx="9829899" cy="4701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hyperlink" Target="https://github.com/ezejivilla-dotcom/proyecto-final-monitor-sismico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8" Type="http://schemas.openxmlformats.org/officeDocument/2006/relationships/image" Target="../media/image-9-7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INTEC">    </p:cNvPr>
          <p:cNvPicPr>
            <a:picLocks noChangeAspect="1"/>
          </p:cNvPicPr>
          <p:nvPr/>
        </p:nvPicPr>
        <p:blipFill>
          <a:blip r:embed="rId1"/>
          <a:srcRect l="-33" r="-33" t="0" b="0"/>
          <a:stretch/>
        </p:blipFill>
        <p:spPr>
          <a:xfrm>
            <a:off x="4610116" y="1051553"/>
            <a:ext cx="2971767" cy="1143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1464225" y="2397745"/>
            <a:ext cx="9263509" cy="80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160"/>
              </a:lnSpc>
              <a:buNone/>
            </a:pPr>
            <a:r>
              <a:rPr lang="en-US" sz="5600" b="1" i="0" spc="-150" kern="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Sísmico Global</a:t>
            </a:r>
            <a:endParaRPr lang="en-US" sz="5600" dirty="0"/>
          </a:p>
        </p:txBody>
      </p:sp>
      <p:pic>
        <p:nvPicPr>
          <p:cNvPr id="4" name="Image 1" descr="Línea decorativa con forma de sismograma en los cinco colores de las capas">    </p:cNvPr>
          <p:cNvPicPr>
            <a:picLocks noChangeAspect="1"/>
          </p:cNvPicPr>
          <p:nvPr/>
        </p:nvPicPr>
        <p:blipFill>
          <a:blip r:embed="rId2"/>
          <a:srcRect l="-171" r="-171" t="0" b="0"/>
          <a:stretch/>
        </p:blipFill>
        <p:spPr>
          <a:xfrm>
            <a:off x="2286000" y="3383235"/>
            <a:ext cx="7620000" cy="50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90625" y="4094427"/>
            <a:ext cx="9810750" cy="355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i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Arquitectura de big data de extremo a extremo con datos reales del USGS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2620574" y="4627811"/>
            <a:ext cx="3438715" cy="345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Ezequiel Jiménez</a:t>
            </a:r>
            <a:r>
              <a:rPr lang="en-US" sz="18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1116656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6059289" y="4627811"/>
            <a:ext cx="4214564" cy="345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Adonis de los Angeles</a:t>
            </a:r>
            <a:r>
              <a:rPr lang="en-US" sz="18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1128136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254625" y="5151065"/>
            <a:ext cx="9682708" cy="274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B · Arquitectura de Grandes Volúmenes de Datos · Prof. Lorenzo Antonio Martinez Lebron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12767" y="6259835"/>
            <a:ext cx="117979" cy="256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67" y="508000"/>
            <a:ext cx="10883460" cy="52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construimos</a:t>
            </a:r>
            <a:endParaRPr lang="en-US" sz="3600" dirty="0"/>
          </a:p>
        </p:txBody>
      </p:sp>
      <p:pic>
        <p:nvPicPr>
          <p:cNvPr id="3" name="Image 0" descr="line">    </p:cNvPr>
          <p:cNvPicPr>
            <a:picLocks noChangeAspect="1"/>
          </p:cNvPicPr>
          <p:nvPr/>
        </p:nvPicPr>
        <p:blipFill>
          <a:blip r:embed="rId1"/>
          <a:srcRect l="-33" r="-33" t="0" b="0"/>
          <a:stretch/>
        </p:blipFill>
        <p:spPr>
          <a:xfrm>
            <a:off x="812767" y="1137873"/>
            <a:ext cx="1016000" cy="3807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12767" y="2278021"/>
            <a:ext cx="3183475" cy="2129193"/>
          </a:xfrm>
          <a:prstGeom prst="roundRect">
            <a:avLst>
              <a:gd name="adj" fmla="val 4772"/>
            </a:avLst>
          </a:prstGeom>
          <a:solidFill>
            <a:srgbClr val="F7FAFC"/>
          </a:solidFill>
          <a:ln/>
        </p:spPr>
      </p:sp>
      <p:sp>
        <p:nvSpPr>
          <p:cNvPr id="5" name="Shape 2"/>
          <p:cNvSpPr/>
          <p:nvPr/>
        </p:nvSpPr>
        <p:spPr>
          <a:xfrm>
            <a:off x="812767" y="2278021"/>
            <a:ext cx="3183475" cy="2129193"/>
          </a:xfrm>
          <a:custGeom>
            <a:avLst/>
            <a:gdLst/>
            <a:ahLst/>
            <a:cxnLst/>
            <a:rect l="l" t="t" r="r" b="b"/>
            <a:pathLst>
              <a:path w="3183475" h="2129193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081875" y="0"/>
                </a:lnTo>
                <a:arcTo hR="101600" wR="101600" stAng="16200000" swAng="5400000"/>
                <a:lnTo>
                  <a:pt x="3183475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6" name="Text 3"/>
          <p:cNvSpPr/>
          <p:nvPr/>
        </p:nvSpPr>
        <p:spPr>
          <a:xfrm>
            <a:off x="1015959" y="2633059"/>
            <a:ext cx="2860404" cy="8382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spc="-150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81 044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1015959" y="3572867"/>
            <a:ext cx="2860404" cy="289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sismos reales (M ≥ 4.0)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199434" y="2278021"/>
            <a:ext cx="2257805" cy="2129193"/>
          </a:xfrm>
          <a:prstGeom prst="roundRect">
            <a:avLst>
              <a:gd name="adj" fmla="val 4772"/>
            </a:avLst>
          </a:prstGeom>
          <a:solidFill>
            <a:srgbClr val="F7FAFC"/>
          </a:solidFill>
          <a:ln/>
        </p:spPr>
      </p:sp>
      <p:sp>
        <p:nvSpPr>
          <p:cNvPr id="9" name="Shape 6"/>
          <p:cNvSpPr/>
          <p:nvPr/>
        </p:nvSpPr>
        <p:spPr>
          <a:xfrm>
            <a:off x="4199434" y="2278021"/>
            <a:ext cx="2257805" cy="2129193"/>
          </a:xfrm>
          <a:custGeom>
            <a:avLst/>
            <a:gdLst/>
            <a:ahLst/>
            <a:cxnLst/>
            <a:rect l="l" t="t" r="r" b="b"/>
            <a:pathLst>
              <a:path w="2257805" h="2129193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156205" y="0"/>
                </a:lnTo>
                <a:arcTo hR="101600" wR="101600" stAng="16200000" swAng="5400000"/>
                <a:lnTo>
                  <a:pt x="2257805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10" name="Text 7"/>
          <p:cNvSpPr/>
          <p:nvPr/>
        </p:nvSpPr>
        <p:spPr>
          <a:xfrm>
            <a:off x="4402625" y="2633059"/>
            <a:ext cx="572244" cy="838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spc="-150" kern="0" dirty="0">
                <a:solidFill>
                  <a:srgbClr val="DD6B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6400" dirty="0"/>
          </a:p>
        </p:txBody>
      </p:sp>
      <p:sp>
        <p:nvSpPr>
          <p:cNvPr id="11" name="Text 8"/>
          <p:cNvSpPr/>
          <p:nvPr/>
        </p:nvSpPr>
        <p:spPr>
          <a:xfrm>
            <a:off x="4974869" y="2984954"/>
            <a:ext cx="941685" cy="487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DD6B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años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4402625" y="3574190"/>
            <a:ext cx="1906965" cy="5536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oct 2021 – oct 2026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660431" y="2278021"/>
            <a:ext cx="2257805" cy="2129193"/>
          </a:xfrm>
          <a:prstGeom prst="roundRect">
            <a:avLst>
              <a:gd name="adj" fmla="val 4772"/>
            </a:avLst>
          </a:prstGeom>
          <a:solidFill>
            <a:srgbClr val="F7FAFC"/>
          </a:solidFill>
          <a:ln/>
        </p:spPr>
      </p:sp>
      <p:sp>
        <p:nvSpPr>
          <p:cNvPr id="14" name="Shape 11"/>
          <p:cNvSpPr/>
          <p:nvPr/>
        </p:nvSpPr>
        <p:spPr>
          <a:xfrm>
            <a:off x="6660431" y="2278021"/>
            <a:ext cx="2257805" cy="2129193"/>
          </a:xfrm>
          <a:custGeom>
            <a:avLst/>
            <a:gdLst/>
            <a:ahLst/>
            <a:cxnLst/>
            <a:rect l="l" t="t" r="r" b="b"/>
            <a:pathLst>
              <a:path w="2257805" h="2129193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156205" y="0"/>
                </a:lnTo>
                <a:arcTo hR="101600" wR="101600" stAng="16200000" swAng="5400000"/>
                <a:lnTo>
                  <a:pt x="2257805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2F855A"/>
          </a:solidFill>
          <a:ln/>
        </p:spPr>
      </p:sp>
      <p:sp>
        <p:nvSpPr>
          <p:cNvPr id="15" name="Text 12"/>
          <p:cNvSpPr/>
          <p:nvPr/>
        </p:nvSpPr>
        <p:spPr>
          <a:xfrm>
            <a:off x="6863622" y="2633059"/>
            <a:ext cx="572244" cy="838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spc="-150" kern="0" dirty="0">
                <a:solidFill>
                  <a:srgbClr val="2F85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6400" dirty="0"/>
          </a:p>
        </p:txBody>
      </p:sp>
      <p:sp>
        <p:nvSpPr>
          <p:cNvPr id="16" name="Text 13"/>
          <p:cNvSpPr/>
          <p:nvPr/>
        </p:nvSpPr>
        <p:spPr>
          <a:xfrm>
            <a:off x="7435866" y="2984954"/>
            <a:ext cx="1172666" cy="487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2F85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capas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863622" y="3574190"/>
            <a:ext cx="1906965" cy="5536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la ingesta a la visualización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9121428" y="2278021"/>
            <a:ext cx="2257805" cy="2129193"/>
          </a:xfrm>
          <a:prstGeom prst="roundRect">
            <a:avLst>
              <a:gd name="adj" fmla="val 4772"/>
            </a:avLst>
          </a:prstGeom>
          <a:solidFill>
            <a:srgbClr val="F7FAFC"/>
          </a:solidFill>
          <a:ln/>
        </p:spPr>
      </p:sp>
      <p:sp>
        <p:nvSpPr>
          <p:cNvPr id="19" name="Shape 16"/>
          <p:cNvSpPr/>
          <p:nvPr/>
        </p:nvSpPr>
        <p:spPr>
          <a:xfrm>
            <a:off x="9121428" y="2278021"/>
            <a:ext cx="2257805" cy="2129193"/>
          </a:xfrm>
          <a:custGeom>
            <a:avLst/>
            <a:gdLst/>
            <a:ahLst/>
            <a:cxnLst/>
            <a:rect l="l" t="t" r="r" b="b"/>
            <a:pathLst>
              <a:path w="2257805" h="2129193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156205" y="0"/>
                </a:lnTo>
                <a:arcTo hR="101600" wR="101600" stAng="16200000" swAng="5400000"/>
                <a:lnTo>
                  <a:pt x="2257805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6B46C1"/>
          </a:solidFill>
          <a:ln/>
        </p:spPr>
      </p:sp>
      <p:sp>
        <p:nvSpPr>
          <p:cNvPr id="20" name="Text 17"/>
          <p:cNvSpPr/>
          <p:nvPr/>
        </p:nvSpPr>
        <p:spPr>
          <a:xfrm>
            <a:off x="9324619" y="2633059"/>
            <a:ext cx="1906965" cy="838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spc="-150" kern="0" dirty="0">
                <a:solidFill>
                  <a:srgbClr val="6B46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</a:t>
            </a:r>
            <a:endParaRPr lang="en-US" sz="6400" dirty="0"/>
          </a:p>
        </p:txBody>
      </p:sp>
      <p:sp>
        <p:nvSpPr>
          <p:cNvPr id="21" name="Text 18"/>
          <p:cNvSpPr/>
          <p:nvPr/>
        </p:nvSpPr>
        <p:spPr>
          <a:xfrm>
            <a:off x="9324619" y="3572867"/>
            <a:ext cx="1906965" cy="5536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columnas por sismo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54270" y="5509286"/>
            <a:ext cx="10883460" cy="421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i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la API del USGS a un dashboard, sin pasos manuales.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812767" y="6259835"/>
            <a:ext cx="151507" cy="256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pic>
        <p:nvPicPr>
          <p:cNvPr id="24" name="Image 1" descr="Logo INTEC">    </p:cNvPr>
          <p:cNvPicPr>
            <a:picLocks noChangeAspect="1"/>
          </p:cNvPicPr>
          <p:nvPr/>
        </p:nvPicPr>
        <p:blipFill>
          <a:blip r:embed="rId2"/>
          <a:srcRect l="-119" r="-119" t="0" b="0"/>
          <a:stretch/>
        </p:blipFill>
        <p:spPr>
          <a:xfrm>
            <a:off x="1116666" y="6223040"/>
            <a:ext cx="793750" cy="3047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67" y="508000"/>
            <a:ext cx="10883460" cy="52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Cinco capas, un solo flujo</a:t>
            </a:r>
            <a:endParaRPr lang="en-US" sz="3600" dirty="0"/>
          </a:p>
        </p:txBody>
      </p:sp>
      <p:pic>
        <p:nvPicPr>
          <p:cNvPr id="3" name="Image 0" descr="line">    </p:cNvPr>
          <p:cNvPicPr>
            <a:picLocks noChangeAspect="1"/>
          </p:cNvPicPr>
          <p:nvPr/>
        </p:nvPicPr>
        <p:blipFill>
          <a:blip r:embed="rId1"/>
          <a:srcRect l="-33" r="-33" t="0" b="0"/>
          <a:stretch/>
        </p:blipFill>
        <p:spPr>
          <a:xfrm>
            <a:off x="812767" y="1137873"/>
            <a:ext cx="1016000" cy="3807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444750" y="1353716"/>
            <a:ext cx="7302500" cy="4102075"/>
          </a:xfrm>
          <a:prstGeom prst="roundRect">
            <a:avLst>
              <a:gd name="adj" fmla="val 24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02C">
                <a:alpha val="8000"/>
              </a:srgbClr>
            </a:outerShdw>
          </a:effectLst>
        </p:spPr>
      </p:sp>
      <p:pic>
        <p:nvPicPr>
          <p:cNvPr id="5" name="Image 1" descr="Diagrama de arquitectura: tres fuentes del USGS entran por la ingesta con Apache NiFi, pasan por la zona raw, el procesamiento con PySpark, el almacenamiento en PostgreSQL, y alimentan el análisis SQL y la visualización en Grafana">    </p:cNvPr>
          <p:cNvPicPr>
            <a:picLocks noChangeAspect="1"/>
          </p:cNvPicPr>
          <p:nvPr/>
        </p:nvPicPr>
        <p:blipFill>
          <a:blip r:embed="rId2"/>
          <a:srcRect l="-50" r="-50" t="0" b="0"/>
          <a:stretch/>
        </p:blipFill>
        <p:spPr>
          <a:xfrm>
            <a:off x="2451100" y="1360066"/>
            <a:ext cx="7289800" cy="4089375"/>
          </a:xfrm>
          <a:prstGeom prst="roundRect">
            <a:avLst>
              <a:gd name="adj" fmla="val 2329"/>
            </a:avLst>
          </a:prstGeom>
        </p:spPr>
      </p:pic>
      <p:sp>
        <p:nvSpPr>
          <p:cNvPr id="6" name="Shape 2"/>
          <p:cNvSpPr/>
          <p:nvPr/>
        </p:nvSpPr>
        <p:spPr>
          <a:xfrm>
            <a:off x="2447925" y="1356891"/>
            <a:ext cx="7296150" cy="4095725"/>
          </a:xfrm>
          <a:prstGeom prst="roundRect">
            <a:avLst>
              <a:gd name="adj" fmla="val 2403"/>
            </a:avLst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992511" y="5633557"/>
            <a:ext cx="8206978" cy="292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capas se comunican por archivos: cada una se prueba y se repite sola.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812767" y="6259835"/>
            <a:ext cx="152789" cy="256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pic>
        <p:nvPicPr>
          <p:cNvPr id="9" name="Image 2" descr="Logo INTEC">    </p:cNvPr>
          <p:cNvPicPr>
            <a:picLocks noChangeAspect="1"/>
          </p:cNvPicPr>
          <p:nvPr/>
        </p:nvPicPr>
        <p:blipFill>
          <a:blip r:embed="rId3"/>
          <a:srcRect l="-119" r="-119" t="0" b="0"/>
          <a:stretch/>
        </p:blipFill>
        <p:spPr>
          <a:xfrm>
            <a:off x="1117947" y="6223040"/>
            <a:ext cx="793750" cy="3047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508000"/>
            <a:ext cx="558767" cy="558767"/>
          </a:xfrm>
          <a:custGeom>
            <a:avLst/>
            <a:gdLst/>
            <a:ahLst/>
            <a:cxnLst/>
            <a:rect l="l" t="t" r="r" b="b"/>
            <a:pathLst>
              <a:path w="558767" h="558767">
                <a:moveTo>
                  <a:pt x="279383" y="0"/>
                </a:moveTo>
                <a:lnTo>
                  <a:pt x="279383" y="0"/>
                </a:lnTo>
                <a:arcTo hR="279383" wR="279383" stAng="16200000" swAng="5400000"/>
                <a:lnTo>
                  <a:pt x="558767" y="279383"/>
                </a:lnTo>
                <a:arcTo hR="279383" wR="279383" stAng="0" swAng="5400000"/>
                <a:lnTo>
                  <a:pt x="279383" y="558767"/>
                </a:lnTo>
                <a:arcTo hR="279383" wR="279383" stAng="5400000" swAng="5400000"/>
                <a:lnTo>
                  <a:pt x="0" y="279383"/>
                </a:lnTo>
                <a:arcTo hR="279383" wR="279383" stAng="10800000" swAng="5400000"/>
                <a:close/>
              </a:path>
            </a:pathLst>
          </a:custGeom>
          <a:solidFill>
            <a:srgbClr val="2B6CB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392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549301" y="535946"/>
            <a:ext cx="5519787" cy="52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Ingesta · Apache NiFi</a:t>
            </a:r>
            <a:endParaRPr lang="en-US" sz="36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-33" r="-33" t="0" b="0"/>
          <a:stretch/>
        </p:blipFill>
        <p:spPr>
          <a:xfrm>
            <a:off x="812767" y="1193766"/>
            <a:ext cx="1016000" cy="380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2767" y="1485841"/>
            <a:ext cx="6350000" cy="2984500"/>
          </a:xfrm>
          <a:prstGeom prst="roundRect">
            <a:avLst>
              <a:gd name="adj" fmla="val 3404"/>
            </a:avLst>
          </a:prstGeom>
          <a:solidFill>
            <a:srgbClr val="1A202C"/>
          </a:solidFill>
          <a:ln/>
          <a:effectLst>
            <a:outerShdw sx="100000" sy="100000" kx="0" ky="0" algn="bl" rotWithShape="0" blurRad="101600" dist="25400" dir="5400000">
              <a:srgbClr val="1A202C">
                <a:alpha val="10000"/>
              </a:srgbClr>
            </a:outerShdw>
          </a:effectLst>
        </p:spPr>
      </p:sp>
      <p:pic>
        <p:nvPicPr>
          <p:cNvPr id="6" name="Image 1" descr="Captura real de Apache NiFi con el pipeline en vivo organizado en cinco grupos de procesadores">    </p:cNvPr>
          <p:cNvPicPr>
            <a:picLocks noChangeAspect="1"/>
          </p:cNvPicPr>
          <p:nvPr/>
        </p:nvPicPr>
        <p:blipFill>
          <a:blip r:embed="rId2"/>
          <a:srcRect l="-176" r="-176" t="0" b="0"/>
          <a:stretch/>
        </p:blipFill>
        <p:spPr>
          <a:xfrm>
            <a:off x="819117" y="1492191"/>
            <a:ext cx="6337300" cy="2971800"/>
          </a:xfrm>
          <a:prstGeom prst="roundRect">
            <a:avLst>
              <a:gd name="adj" fmla="val 3205"/>
            </a:avLst>
          </a:prstGeom>
        </p:spPr>
      </p:pic>
      <p:sp>
        <p:nvSpPr>
          <p:cNvPr id="7" name="Shape 3"/>
          <p:cNvSpPr/>
          <p:nvPr/>
        </p:nvSpPr>
        <p:spPr>
          <a:xfrm>
            <a:off x="815942" y="1489016"/>
            <a:ext cx="6343650" cy="2978150"/>
          </a:xfrm>
          <a:prstGeom prst="roundRect">
            <a:avLst>
              <a:gd name="adj" fmla="val 3305"/>
            </a:avLst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12767" y="4546533"/>
            <a:ext cx="6540500" cy="274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en vivo: 5 grupos</a:t>
            </a:r>
            <a:endParaRPr lang="en-US" sz="1400" dirty="0"/>
          </a:p>
        </p:txBody>
      </p:sp>
      <p:pic>
        <p:nvPicPr>
          <p:cNvPr id="9" name="Image 2" descr="Lin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67533" y="1485841"/>
            <a:ext cx="304767" cy="30476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899301" y="1485841"/>
            <a:ext cx="3584330" cy="314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pipelines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7899301" y="1800778"/>
            <a:ext cx="3584330" cy="487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vivo (cada 5 min) e histórico (61 ventanas)</a:t>
            </a:r>
            <a:endParaRPr lang="en-US" sz="1400" dirty="0"/>
          </a:p>
        </p:txBody>
      </p:sp>
      <p:pic>
        <p:nvPicPr>
          <p:cNvPr id="12" name="Image 3" descr="CheckCircl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67533" y="2415439"/>
            <a:ext cx="304767" cy="30476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899301" y="2415439"/>
            <a:ext cx="3584330" cy="314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reglas de calidad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7899301" y="2730376"/>
            <a:ext cx="3584330" cy="256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más validación por esquema</a:t>
            </a:r>
            <a:endParaRPr lang="en-US" sz="1400" dirty="0"/>
          </a:p>
        </p:txBody>
      </p:sp>
      <p:pic>
        <p:nvPicPr>
          <p:cNvPr id="15" name="Image 4" descr="Verified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467533" y="3113897"/>
            <a:ext cx="304767" cy="30476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899301" y="3113897"/>
            <a:ext cx="3584330" cy="314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duplicados</a:t>
            </a:r>
            <a:endParaRPr lang="en-US" sz="1900" dirty="0"/>
          </a:p>
        </p:txBody>
      </p:sp>
      <p:sp>
        <p:nvSpPr>
          <p:cNvPr id="17" name="Text 10"/>
          <p:cNvSpPr/>
          <p:nvPr/>
        </p:nvSpPr>
        <p:spPr>
          <a:xfrm>
            <a:off x="7899301" y="3428834"/>
            <a:ext cx="3584330" cy="256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caché de deduplicación</a:t>
            </a:r>
            <a:endParaRPr lang="en-US" sz="1400" dirty="0"/>
          </a:p>
        </p:txBody>
      </p:sp>
      <p:pic>
        <p:nvPicPr>
          <p:cNvPr id="18" name="Image 5" descr="Clock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467533" y="3812356"/>
            <a:ext cx="304767" cy="304767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899301" y="3812356"/>
            <a:ext cx="3584330" cy="314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de flujo</a:t>
            </a:r>
            <a:endParaRPr lang="en-US" sz="1900" dirty="0"/>
          </a:p>
        </p:txBody>
      </p:sp>
      <p:sp>
        <p:nvSpPr>
          <p:cNvPr id="20" name="Text 12"/>
          <p:cNvSpPr/>
          <p:nvPr/>
        </p:nvSpPr>
        <p:spPr>
          <a:xfrm>
            <a:off x="7899301" y="4127292"/>
            <a:ext cx="3584330" cy="256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backpressure y 1 consulta cada 5 s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812767" y="5049448"/>
            <a:ext cx="10566466" cy="634959"/>
          </a:xfrm>
          <a:prstGeom prst="roundRect">
            <a:avLst>
              <a:gd name="adj" fmla="val 16001"/>
            </a:avLst>
          </a:prstGeom>
          <a:solidFill>
            <a:srgbClr val="2B6CB0"/>
          </a:solidFill>
          <a:ln/>
        </p:spPr>
        <p:txBody>
          <a:bodyPr wrap="square" lIns="73365" tIns="122642" rIns="73365" bIns="97242" rtlCol="0" anchor="t">
            <a:normAutofit/>
          </a:bodyPr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registros rechazados</a:t>
            </a: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 la carga final</a:t>
            </a:r>
            <a:endParaRPr lang="en-US" sz="2000" dirty="0"/>
          </a:p>
        </p:txBody>
      </p:sp>
      <p:sp>
        <p:nvSpPr>
          <p:cNvPr id="22" name="Text 14"/>
          <p:cNvSpPr/>
          <p:nvPr/>
        </p:nvSpPr>
        <p:spPr>
          <a:xfrm>
            <a:off x="812767" y="6259835"/>
            <a:ext cx="157460" cy="256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pic>
        <p:nvPicPr>
          <p:cNvPr id="23" name="Image 6" descr="Logo INTEC">    </p:cNvPr>
          <p:cNvPicPr>
            <a:picLocks noChangeAspect="1"/>
          </p:cNvPicPr>
          <p:nvPr/>
        </p:nvPicPr>
        <p:blipFill>
          <a:blip r:embed="rId7"/>
          <a:srcRect l="-119" r="-119" t="0" b="0"/>
          <a:stretch/>
        </p:blipFill>
        <p:spPr>
          <a:xfrm>
            <a:off x="1122619" y="6223040"/>
            <a:ext cx="793750" cy="3047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457191"/>
            <a:ext cx="558767" cy="558767"/>
          </a:xfrm>
          <a:custGeom>
            <a:avLst/>
            <a:gdLst/>
            <a:ahLst/>
            <a:cxnLst/>
            <a:rect l="l" t="t" r="r" b="b"/>
            <a:pathLst>
              <a:path w="558767" h="558767">
                <a:moveTo>
                  <a:pt x="279383" y="0"/>
                </a:moveTo>
                <a:lnTo>
                  <a:pt x="279383" y="0"/>
                </a:lnTo>
                <a:arcTo hR="279383" wR="279383" stAng="16200000" swAng="5400000"/>
                <a:lnTo>
                  <a:pt x="558767" y="279383"/>
                </a:lnTo>
                <a:arcTo hR="279383" wR="279383" stAng="0" swAng="5400000"/>
                <a:lnTo>
                  <a:pt x="279383" y="558767"/>
                </a:lnTo>
                <a:arcTo hR="279383" wR="279383" stAng="5400000" swAng="5400000"/>
                <a:lnTo>
                  <a:pt x="0" y="279383"/>
                </a:lnTo>
                <a:arcTo hR="279383" wR="279383" stAng="10800000" swAng="5400000"/>
                <a:close/>
              </a:path>
            </a:pathLst>
          </a:custGeom>
          <a:solidFill>
            <a:srgbClr val="DD6B2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392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498534" y="457191"/>
            <a:ext cx="558767" cy="558767"/>
          </a:xfrm>
          <a:custGeom>
            <a:avLst/>
            <a:gdLst/>
            <a:ahLst/>
            <a:cxnLst/>
            <a:rect l="l" t="t" r="r" b="b"/>
            <a:pathLst>
              <a:path w="558767" h="558767">
                <a:moveTo>
                  <a:pt x="279383" y="0"/>
                </a:moveTo>
                <a:lnTo>
                  <a:pt x="279383" y="0"/>
                </a:lnTo>
                <a:arcTo hR="279383" wR="279383" stAng="16200000" swAng="5400000"/>
                <a:lnTo>
                  <a:pt x="558767" y="279383"/>
                </a:lnTo>
                <a:arcTo hR="279383" wR="279383" stAng="0" swAng="5400000"/>
                <a:lnTo>
                  <a:pt x="279383" y="558767"/>
                </a:lnTo>
                <a:arcTo hR="279383" wR="279383" stAng="5400000" swAng="5400000"/>
                <a:lnTo>
                  <a:pt x="0" y="279383"/>
                </a:lnTo>
                <a:arcTo hR="279383" wR="279383" stAng="10800000" swAng="5400000"/>
                <a:close/>
              </a:path>
            </a:pathLst>
          </a:custGeom>
          <a:solidFill>
            <a:srgbClr val="2F855A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392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2184301" y="485136"/>
            <a:ext cx="8834586" cy="52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Procesamiento y almacenamiento</a:t>
            </a:r>
            <a:endParaRPr lang="en-US" sz="3600" dirty="0"/>
          </a:p>
        </p:txBody>
      </p:sp>
      <p:pic>
        <p:nvPicPr>
          <p:cNvPr id="5" name="Image 0" descr="line">    </p:cNvPr>
          <p:cNvPicPr>
            <a:picLocks noChangeAspect="1"/>
          </p:cNvPicPr>
          <p:nvPr/>
        </p:nvPicPr>
        <p:blipFill>
          <a:blip r:embed="rId1"/>
          <a:srcRect l="-33" r="-33" t="0" b="0"/>
          <a:stretch/>
        </p:blipFill>
        <p:spPr>
          <a:xfrm>
            <a:off x="812767" y="1142957"/>
            <a:ext cx="1016000" cy="380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1817" y="1384226"/>
            <a:ext cx="0" cy="1838027"/>
          </a:xfrm>
          <a:prstGeom prst="line">
            <a:avLst/>
          </a:prstGeom>
          <a:noFill/>
          <a:ln w="38100">
            <a:solidFill>
              <a:srgbClr val="DD6B2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7575" y="1384226"/>
            <a:ext cx="3325350" cy="33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C056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PySpark · ~40 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84471" y="1765182"/>
            <a:ext cx="3260834" cy="1482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7104" indent="-197104">
              <a:lnSpc>
                <a:spcPts val="2295"/>
              </a:lnSpc>
              <a:buSzPct val="100000"/>
              <a:buChar char="•"/>
            </a:pPr>
            <a:r>
              <a:rPr lang="en-US" sz="17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Limpieza y alcance M ≥ 4.0</a:t>
            </a:r>
            <a:endParaRPr lang="en-US" sz="1700" dirty="0"/>
          </a:p>
          <a:p>
            <a:pPr algn="l" marL="197104" indent="-197104">
              <a:lnSpc>
                <a:spcPts val="2295"/>
              </a:lnSpc>
              <a:buSzPct val="100000"/>
              <a:buChar char="•"/>
            </a:pPr>
            <a:r>
              <a:rPr lang="en-US" sz="17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Duplicados resueltos entre fuentes</a:t>
            </a:r>
            <a:endParaRPr lang="en-US" sz="1700" dirty="0"/>
          </a:p>
          <a:p>
            <a:pPr algn="l" marL="197104" indent="-197104">
              <a:lnSpc>
                <a:spcPts val="2295"/>
              </a:lnSpc>
              <a:buSzPct val="100000"/>
              <a:buChar char="•"/>
            </a:pPr>
            <a:r>
              <a:rPr lang="en-US" sz="17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Energía, réplicas y 12 zonas (KMeans)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529121" y="1384226"/>
            <a:ext cx="0" cy="1838027"/>
          </a:xfrm>
          <a:prstGeom prst="line">
            <a:avLst/>
          </a:prstGeom>
          <a:noFill/>
          <a:ln w="38100">
            <a:solidFill>
              <a:srgbClr val="2F85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24879" y="1384226"/>
            <a:ext cx="3325393" cy="33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F85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781775" y="1765182"/>
            <a:ext cx="3260877" cy="8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7104" indent="-197104">
              <a:lnSpc>
                <a:spcPts val="2295"/>
              </a:lnSpc>
              <a:buSzPct val="100000"/>
              <a:buChar char="•"/>
            </a:pPr>
            <a:r>
              <a:rPr lang="en-US" sz="17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 particiones mensuales</a:t>
            </a:r>
            <a:endParaRPr lang="en-US" sz="1700" dirty="0"/>
          </a:p>
          <a:p>
            <a:pPr algn="l" marL="197104" indent="-197104">
              <a:lnSpc>
                <a:spcPts val="2295"/>
              </a:lnSpc>
              <a:buSzPct val="100000"/>
              <a:buChar char="•"/>
            </a:pPr>
            <a:r>
              <a:rPr lang="en-US" sz="17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 columnas por sismo</a:t>
            </a:r>
            <a:endParaRPr lang="en-US" sz="1700" dirty="0"/>
          </a:p>
          <a:p>
            <a:pPr algn="l" marL="197104" indent="-197104">
              <a:lnSpc>
                <a:spcPts val="2295"/>
              </a:lnSpc>
              <a:buSzPct val="100000"/>
              <a:buChar char="•"/>
            </a:pPr>
            <a:r>
              <a:rPr lang="en-US" sz="17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Respaldo de 6 MB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8213766" y="1390576"/>
            <a:ext cx="3159117" cy="1825327"/>
          </a:xfrm>
          <a:prstGeom prst="roundRect">
            <a:avLst>
              <a:gd name="adj" fmla="val 5218"/>
            </a:avLst>
          </a:prstGeom>
          <a:solidFill>
            <a:srgbClr val="FEFCB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21191" y="1547192"/>
            <a:ext cx="2826595" cy="64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spc="-100" kern="0" dirty="0">
                <a:solidFill>
                  <a:srgbClr val="975A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41 %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8421191" y="2212618"/>
            <a:ext cx="2826595" cy="74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5F37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las profundidades eran un valor por defecto → </a:t>
            </a:r>
            <a:r>
              <a:rPr lang="en-US" sz="1400" b="1" dirty="0">
                <a:solidFill>
                  <a:srgbClr val="5F37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marcadas, no borradas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627933" y="3425444"/>
            <a:ext cx="4936133" cy="274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Carga idempotente: una transacción, tres pasos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032000" y="3725125"/>
            <a:ext cx="8128000" cy="2057383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</p:spPr>
      </p:sp>
      <p:pic>
        <p:nvPicPr>
          <p:cNvPr id="17" name="Image 1" descr="Diagrama de la carga idempotente en una sola transacción: borrar versiones obsoletas, actualizar lo que cambió y podar lo retirado">    </p:cNvPr>
          <p:cNvPicPr>
            <a:picLocks noChangeAspect="1"/>
          </p:cNvPicPr>
          <p:nvPr/>
        </p:nvPicPr>
        <p:blipFill>
          <a:blip r:embed="rId2"/>
          <a:srcRect l="-274" r="-274" t="0" b="0"/>
          <a:stretch/>
        </p:blipFill>
        <p:spPr>
          <a:xfrm>
            <a:off x="2038350" y="3731475"/>
            <a:ext cx="8115300" cy="2044683"/>
          </a:xfrm>
          <a:prstGeom prst="roundRect">
            <a:avLst>
              <a:gd name="adj" fmla="val 4658"/>
            </a:avLst>
          </a:prstGeom>
        </p:spPr>
      </p:pic>
      <p:sp>
        <p:nvSpPr>
          <p:cNvPr id="18" name="Shape 14"/>
          <p:cNvSpPr/>
          <p:nvPr/>
        </p:nvSpPr>
        <p:spPr>
          <a:xfrm>
            <a:off x="2035175" y="3728300"/>
            <a:ext cx="8121650" cy="2051033"/>
          </a:xfrm>
          <a:prstGeom prst="roundRect">
            <a:avLst>
              <a:gd name="adj" fmla="val 4799"/>
            </a:avLst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12767" y="6259835"/>
            <a:ext cx="148779" cy="256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300" dirty="0"/>
          </a:p>
        </p:txBody>
      </p:sp>
      <p:pic>
        <p:nvPicPr>
          <p:cNvPr id="20" name="Image 2" descr="Logo INTEC">    </p:cNvPr>
          <p:cNvPicPr>
            <a:picLocks noChangeAspect="1"/>
          </p:cNvPicPr>
          <p:nvPr/>
        </p:nvPicPr>
        <p:blipFill>
          <a:blip r:embed="rId3"/>
          <a:srcRect l="-119" r="-119" t="0" b="0"/>
          <a:stretch/>
        </p:blipFill>
        <p:spPr>
          <a:xfrm>
            <a:off x="1113937" y="6223040"/>
            <a:ext cx="793750" cy="3047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508000"/>
            <a:ext cx="558767" cy="558767"/>
          </a:xfrm>
          <a:custGeom>
            <a:avLst/>
            <a:gdLst/>
            <a:ahLst/>
            <a:cxnLst/>
            <a:rect l="l" t="t" r="r" b="b"/>
            <a:pathLst>
              <a:path w="558767" h="558767">
                <a:moveTo>
                  <a:pt x="279383" y="0"/>
                </a:moveTo>
                <a:lnTo>
                  <a:pt x="279383" y="0"/>
                </a:lnTo>
                <a:arcTo hR="279383" wR="279383" stAng="16200000" swAng="5400000"/>
                <a:lnTo>
                  <a:pt x="558767" y="279383"/>
                </a:lnTo>
                <a:arcTo hR="279383" wR="279383" stAng="0" swAng="5400000"/>
                <a:lnTo>
                  <a:pt x="279383" y="558767"/>
                </a:lnTo>
                <a:arcTo hR="279383" wR="279383" stAng="5400000" swAng="5400000"/>
                <a:lnTo>
                  <a:pt x="0" y="279383"/>
                </a:lnTo>
                <a:arcTo hR="279383" wR="279383" stAng="10800000" swAng="5400000"/>
                <a:close/>
              </a:path>
            </a:pathLst>
          </a:custGeom>
          <a:solidFill>
            <a:srgbClr val="6B46C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392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549301" y="535946"/>
            <a:ext cx="8924131" cy="52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· 5 consultas, 5 preguntas</a:t>
            </a:r>
            <a:endParaRPr lang="en-US" sz="36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-33" r="-33" t="0" b="0"/>
          <a:stretch/>
        </p:blipFill>
        <p:spPr>
          <a:xfrm>
            <a:off x="812767" y="1193766"/>
            <a:ext cx="1016000" cy="38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9117" y="1492191"/>
            <a:ext cx="342875" cy="342875"/>
          </a:xfrm>
          <a:custGeom>
            <a:avLst/>
            <a:gdLst/>
            <a:ahLst/>
            <a:cxnLst/>
            <a:rect l="l" t="t" r="r" b="b"/>
            <a:pathLst>
              <a:path w="342875" h="342875">
                <a:moveTo>
                  <a:pt x="171438" y="0"/>
                </a:moveTo>
                <a:lnTo>
                  <a:pt x="171438" y="0"/>
                </a:lnTo>
                <a:arcTo hR="171438" wR="171438" stAng="16200000" swAng="5400000"/>
                <a:lnTo>
                  <a:pt x="342875" y="171438"/>
                </a:lnTo>
                <a:arcTo hR="171438" wR="171438" stAng="0" swAng="5400000"/>
                <a:lnTo>
                  <a:pt x="171438" y="342875"/>
                </a:lnTo>
                <a:arcTo hR="171438" wR="171438" stAng="5400000" swAng="5400000"/>
                <a:lnTo>
                  <a:pt x="0" y="171438"/>
                </a:lnTo>
                <a:arcTo hR="171438" wR="171438" stAng="10800000" swAng="5400000"/>
                <a:close/>
              </a:path>
            </a:pathLst>
          </a:custGeom>
          <a:solidFill>
            <a:srgbClr val="FAF5FF"/>
          </a:solidFill>
          <a:ln w="12700">
            <a:solidFill>
              <a:srgbClr val="6B46C1"/>
            </a:solidFill>
            <a:prstDash val="solid"/>
          </a:ln>
        </p:spPr>
        <p:txBody>
          <a:bodyPr wrap="square" lIns="0" tIns="4233" rIns="0" bIns="0" rtlCol="0" anchor="t">
            <a:normAutofit/>
          </a:bodyPr>
          <a:lstStyle/>
          <a:p>
            <a:pPr algn="ctr" indent="0" marL="0">
              <a:lnSpc>
                <a:spcPts val="2604"/>
              </a:lnSpc>
              <a:buNone/>
            </a:pPr>
            <a:r>
              <a:rPr lang="en-US" sz="1400" b="1" dirty="0">
                <a:solidFill>
                  <a:srgbClr val="6B46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320726" y="1485841"/>
            <a:ext cx="4683143" cy="299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Gutenberg-Richter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20726" y="1772872"/>
            <a:ext cx="4683143" cy="273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¿Cuánta energía libera cada región?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19117" y="2191931"/>
            <a:ext cx="342875" cy="342875"/>
          </a:xfrm>
          <a:custGeom>
            <a:avLst/>
            <a:gdLst/>
            <a:ahLst/>
            <a:cxnLst/>
            <a:rect l="l" t="t" r="r" b="b"/>
            <a:pathLst>
              <a:path w="342875" h="342875">
                <a:moveTo>
                  <a:pt x="171438" y="0"/>
                </a:moveTo>
                <a:lnTo>
                  <a:pt x="171438" y="0"/>
                </a:lnTo>
                <a:arcTo hR="171438" wR="171438" stAng="16200000" swAng="5400000"/>
                <a:lnTo>
                  <a:pt x="342875" y="171438"/>
                </a:lnTo>
                <a:arcTo hR="171438" wR="171438" stAng="0" swAng="5400000"/>
                <a:lnTo>
                  <a:pt x="171438" y="342875"/>
                </a:lnTo>
                <a:arcTo hR="171438" wR="171438" stAng="5400000" swAng="5400000"/>
                <a:lnTo>
                  <a:pt x="0" y="171438"/>
                </a:lnTo>
                <a:arcTo hR="171438" wR="171438" stAng="10800000" swAng="5400000"/>
                <a:close/>
              </a:path>
            </a:pathLst>
          </a:custGeom>
          <a:solidFill>
            <a:srgbClr val="FAF5FF"/>
          </a:solidFill>
          <a:ln w="12700">
            <a:solidFill>
              <a:srgbClr val="6B46C1"/>
            </a:solidFill>
            <a:prstDash val="solid"/>
          </a:ln>
        </p:spPr>
        <p:txBody>
          <a:bodyPr wrap="square" lIns="0" tIns="4233" rIns="0" bIns="0" rtlCol="0" anchor="t">
            <a:normAutofit/>
          </a:bodyPr>
          <a:lstStyle/>
          <a:p>
            <a:pPr algn="ctr" indent="0" marL="0">
              <a:lnSpc>
                <a:spcPts val="2604"/>
              </a:lnSpc>
              <a:buNone/>
            </a:pPr>
            <a:r>
              <a:rPr lang="en-US" sz="1400" b="1" dirty="0">
                <a:solidFill>
                  <a:srgbClr val="6B46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20726" y="2185581"/>
            <a:ext cx="4683143" cy="299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Secuencias de réplicas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320726" y="2472612"/>
            <a:ext cx="4683143" cy="273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¿Con qué rapidez se suceden los sismos?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19117" y="2891672"/>
            <a:ext cx="342875" cy="342875"/>
          </a:xfrm>
          <a:custGeom>
            <a:avLst/>
            <a:gdLst/>
            <a:ahLst/>
            <a:cxnLst/>
            <a:rect l="l" t="t" r="r" b="b"/>
            <a:pathLst>
              <a:path w="342875" h="342875">
                <a:moveTo>
                  <a:pt x="171438" y="0"/>
                </a:moveTo>
                <a:lnTo>
                  <a:pt x="171438" y="0"/>
                </a:lnTo>
                <a:arcTo hR="171438" wR="171438" stAng="16200000" swAng="5400000"/>
                <a:lnTo>
                  <a:pt x="342875" y="171438"/>
                </a:lnTo>
                <a:arcTo hR="171438" wR="171438" stAng="0" swAng="5400000"/>
                <a:lnTo>
                  <a:pt x="171438" y="342875"/>
                </a:lnTo>
                <a:arcTo hR="171438" wR="171438" stAng="5400000" swAng="5400000"/>
                <a:lnTo>
                  <a:pt x="0" y="171438"/>
                </a:lnTo>
                <a:arcTo hR="171438" wR="171438" stAng="10800000" swAng="5400000"/>
                <a:close/>
              </a:path>
            </a:pathLst>
          </a:custGeom>
          <a:solidFill>
            <a:srgbClr val="FAF5FF"/>
          </a:solidFill>
          <a:ln w="12700">
            <a:solidFill>
              <a:srgbClr val="6B46C1"/>
            </a:solidFill>
            <a:prstDash val="solid"/>
          </a:ln>
        </p:spPr>
        <p:txBody>
          <a:bodyPr wrap="square" lIns="0" tIns="4233" rIns="0" bIns="0" rtlCol="0" anchor="t">
            <a:normAutofit/>
          </a:bodyPr>
          <a:lstStyle/>
          <a:p>
            <a:pPr algn="ctr" indent="0" marL="0">
              <a:lnSpc>
                <a:spcPts val="2604"/>
              </a:lnSpc>
              <a:buNone/>
            </a:pPr>
            <a:r>
              <a:rPr lang="en-US" sz="1400" b="1" dirty="0">
                <a:solidFill>
                  <a:srgbClr val="6B46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0726" y="2885322"/>
            <a:ext cx="4683143" cy="299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Estratos de profundidad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320726" y="3172352"/>
            <a:ext cx="4683143" cy="273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¿Dónde hay riesgo de tsunami?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19117" y="3591412"/>
            <a:ext cx="342875" cy="342875"/>
          </a:xfrm>
          <a:custGeom>
            <a:avLst/>
            <a:gdLst/>
            <a:ahLst/>
            <a:cxnLst/>
            <a:rect l="l" t="t" r="r" b="b"/>
            <a:pathLst>
              <a:path w="342875" h="342875">
                <a:moveTo>
                  <a:pt x="171438" y="0"/>
                </a:moveTo>
                <a:lnTo>
                  <a:pt x="171438" y="0"/>
                </a:lnTo>
                <a:arcTo hR="171438" wR="171438" stAng="16200000" swAng="5400000"/>
                <a:lnTo>
                  <a:pt x="342875" y="171438"/>
                </a:lnTo>
                <a:arcTo hR="171438" wR="171438" stAng="0" swAng="5400000"/>
                <a:lnTo>
                  <a:pt x="171438" y="342875"/>
                </a:lnTo>
                <a:arcTo hR="171438" wR="171438" stAng="5400000" swAng="5400000"/>
                <a:lnTo>
                  <a:pt x="0" y="171438"/>
                </a:lnTo>
                <a:arcTo hR="171438" wR="171438" stAng="10800000" swAng="5400000"/>
                <a:close/>
              </a:path>
            </a:pathLst>
          </a:custGeom>
          <a:solidFill>
            <a:srgbClr val="FAF5FF"/>
          </a:solidFill>
          <a:ln w="12700">
            <a:solidFill>
              <a:srgbClr val="6B46C1"/>
            </a:solidFill>
            <a:prstDash val="solid"/>
          </a:ln>
        </p:spPr>
        <p:txBody>
          <a:bodyPr wrap="square" lIns="0" tIns="4233" rIns="0" bIns="0" rtlCol="0" anchor="t">
            <a:normAutofit/>
          </a:bodyPr>
          <a:lstStyle/>
          <a:p>
            <a:pPr algn="ctr" indent="0" marL="0">
              <a:lnSpc>
                <a:spcPts val="2604"/>
              </a:lnSpc>
              <a:buNone/>
            </a:pPr>
            <a:r>
              <a:rPr lang="en-US" sz="1400" b="1" dirty="0">
                <a:solidFill>
                  <a:srgbClr val="6B46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320726" y="3585062"/>
            <a:ext cx="4683143" cy="299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Anomalías temporales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320726" y="3872092"/>
            <a:ext cx="4683143" cy="273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¿Cuándo hubo meses excepcionales?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19117" y="4291152"/>
            <a:ext cx="342875" cy="342875"/>
          </a:xfrm>
          <a:custGeom>
            <a:avLst/>
            <a:gdLst/>
            <a:ahLst/>
            <a:cxnLst/>
            <a:rect l="l" t="t" r="r" b="b"/>
            <a:pathLst>
              <a:path w="342875" h="342875">
                <a:moveTo>
                  <a:pt x="171438" y="0"/>
                </a:moveTo>
                <a:lnTo>
                  <a:pt x="171438" y="0"/>
                </a:lnTo>
                <a:arcTo hR="171438" wR="171438" stAng="16200000" swAng="5400000"/>
                <a:lnTo>
                  <a:pt x="342875" y="171438"/>
                </a:lnTo>
                <a:arcTo hR="171438" wR="171438" stAng="0" swAng="5400000"/>
                <a:lnTo>
                  <a:pt x="171438" y="342875"/>
                </a:lnTo>
                <a:arcTo hR="171438" wR="171438" stAng="5400000" swAng="5400000"/>
                <a:lnTo>
                  <a:pt x="0" y="171438"/>
                </a:lnTo>
                <a:arcTo hR="171438" wR="171438" stAng="10800000" swAng="5400000"/>
                <a:close/>
              </a:path>
            </a:pathLst>
          </a:custGeom>
          <a:solidFill>
            <a:srgbClr val="FAF5FF"/>
          </a:solidFill>
          <a:ln w="12700">
            <a:solidFill>
              <a:srgbClr val="6B46C1"/>
            </a:solidFill>
            <a:prstDash val="solid"/>
          </a:ln>
        </p:spPr>
        <p:txBody>
          <a:bodyPr wrap="square" lIns="0" tIns="4233" rIns="0" bIns="0" rtlCol="0" anchor="t">
            <a:normAutofit/>
          </a:bodyPr>
          <a:lstStyle/>
          <a:p>
            <a:pPr algn="ctr" indent="0" marL="0">
              <a:lnSpc>
                <a:spcPts val="2604"/>
              </a:lnSpc>
              <a:buNone/>
            </a:pPr>
            <a:r>
              <a:rPr lang="en-US" sz="1400" b="1" dirty="0">
                <a:solidFill>
                  <a:srgbClr val="6B46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320726" y="4284802"/>
            <a:ext cx="4683143" cy="299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Zonas sísmicas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320726" y="4571833"/>
            <a:ext cx="4683143" cy="273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¿Cuáles son las más críticas?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172233" y="1485841"/>
            <a:ext cx="5207000" cy="1098434"/>
          </a:xfrm>
          <a:prstGeom prst="roundRect">
            <a:avLst>
              <a:gd name="adj" fmla="val 9250"/>
            </a:avLst>
          </a:prstGeom>
          <a:solidFill>
            <a:srgbClr val="FAF5FF"/>
          </a:solidFill>
          <a:ln/>
        </p:spPr>
      </p:sp>
      <p:sp>
        <p:nvSpPr>
          <p:cNvPr id="21" name="Shape 18"/>
          <p:cNvSpPr/>
          <p:nvPr/>
        </p:nvSpPr>
        <p:spPr>
          <a:xfrm>
            <a:off x="6172233" y="1485841"/>
            <a:ext cx="5207000" cy="1098434"/>
          </a:xfrm>
          <a:custGeom>
            <a:avLst/>
            <a:gdLst/>
            <a:ahLst/>
            <a:cxnLst/>
            <a:rect l="l" t="t" r="r" b="b"/>
            <a:pathLst>
              <a:path w="5207000" h="1098434">
                <a:moveTo>
                  <a:pt x="101600" y="1098434"/>
                </a:moveTo>
                <a:lnTo>
                  <a:pt x="101600" y="1098434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50800" stAng="16200000" swAng="-5400000"/>
                <a:lnTo>
                  <a:pt x="50800" y="996834"/>
                </a:lnTo>
                <a:arcTo hR="101600" wR="50800" stAng="10800000" swAng="-5400000"/>
                <a:close/>
              </a:path>
            </a:pathLst>
          </a:custGeom>
          <a:solidFill>
            <a:srgbClr val="6B46C1"/>
          </a:solidFill>
          <a:ln/>
        </p:spPr>
      </p:sp>
      <p:sp>
        <p:nvSpPr>
          <p:cNvPr id="22" name="Text 19"/>
          <p:cNvSpPr/>
          <p:nvPr/>
        </p:nvSpPr>
        <p:spPr>
          <a:xfrm>
            <a:off x="6425695" y="1638226"/>
            <a:ext cx="4892856" cy="52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100" kern="0" dirty="0">
                <a:solidFill>
                  <a:srgbClr val="6B46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68 %</a:t>
            </a: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6425695" y="2191866"/>
            <a:ext cx="4953538" cy="265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la energía, en un solo sismo (M8.8, Kamchatka 2025)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172233" y="2711276"/>
            <a:ext cx="5207000" cy="1098434"/>
          </a:xfrm>
          <a:prstGeom prst="roundRect">
            <a:avLst>
              <a:gd name="adj" fmla="val 9250"/>
            </a:avLst>
          </a:prstGeom>
          <a:solidFill>
            <a:srgbClr val="FAF5FF"/>
          </a:solidFill>
          <a:ln/>
        </p:spPr>
      </p:sp>
      <p:sp>
        <p:nvSpPr>
          <p:cNvPr id="25" name="Shape 22"/>
          <p:cNvSpPr/>
          <p:nvPr/>
        </p:nvSpPr>
        <p:spPr>
          <a:xfrm>
            <a:off x="6172233" y="2711276"/>
            <a:ext cx="5207000" cy="1098434"/>
          </a:xfrm>
          <a:custGeom>
            <a:avLst/>
            <a:gdLst/>
            <a:ahLst/>
            <a:cxnLst/>
            <a:rect l="l" t="t" r="r" b="b"/>
            <a:pathLst>
              <a:path w="5207000" h="1098434">
                <a:moveTo>
                  <a:pt x="101600" y="1098434"/>
                </a:moveTo>
                <a:lnTo>
                  <a:pt x="101600" y="1098434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50800" stAng="16200000" swAng="-5400000"/>
                <a:lnTo>
                  <a:pt x="50800" y="996834"/>
                </a:lnTo>
                <a:arcTo hR="101600" wR="50800" stAng="10800000" swAng="-5400000"/>
                <a:close/>
              </a:path>
            </a:pathLst>
          </a:custGeom>
          <a:solidFill>
            <a:srgbClr val="6B46C1"/>
          </a:solidFill>
          <a:ln/>
        </p:spPr>
      </p:sp>
      <p:sp>
        <p:nvSpPr>
          <p:cNvPr id="26" name="Text 23"/>
          <p:cNvSpPr/>
          <p:nvPr/>
        </p:nvSpPr>
        <p:spPr>
          <a:xfrm>
            <a:off x="6425695" y="2863658"/>
            <a:ext cx="4892856" cy="5282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100" kern="0" dirty="0">
                <a:solidFill>
                  <a:srgbClr val="6B46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2.8 % → 0.2–0.3 %</a:t>
            </a:r>
            <a:endParaRPr lang="en-US" sz="3600" dirty="0"/>
          </a:p>
        </p:txBody>
      </p:sp>
      <p:sp>
        <p:nvSpPr>
          <p:cNvPr id="27" name="Text 24"/>
          <p:cNvSpPr/>
          <p:nvPr/>
        </p:nvSpPr>
        <p:spPr>
          <a:xfrm>
            <a:off x="6425695" y="3417298"/>
            <a:ext cx="4892856" cy="265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riesgo de tsunami: 0–35 km frente a más de 300 km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172233" y="3936709"/>
            <a:ext cx="5207000" cy="1098434"/>
          </a:xfrm>
          <a:prstGeom prst="roundRect">
            <a:avLst>
              <a:gd name="adj" fmla="val 9250"/>
            </a:avLst>
          </a:prstGeom>
          <a:solidFill>
            <a:srgbClr val="FAF5FF"/>
          </a:solidFill>
          <a:ln/>
        </p:spPr>
      </p:sp>
      <p:sp>
        <p:nvSpPr>
          <p:cNvPr id="29" name="Shape 26"/>
          <p:cNvSpPr/>
          <p:nvPr/>
        </p:nvSpPr>
        <p:spPr>
          <a:xfrm>
            <a:off x="6172233" y="3936709"/>
            <a:ext cx="5207000" cy="1098434"/>
          </a:xfrm>
          <a:custGeom>
            <a:avLst/>
            <a:gdLst/>
            <a:ahLst/>
            <a:cxnLst/>
            <a:rect l="l" t="t" r="r" b="b"/>
            <a:pathLst>
              <a:path w="5207000" h="1098434">
                <a:moveTo>
                  <a:pt x="101600" y="1098434"/>
                </a:moveTo>
                <a:lnTo>
                  <a:pt x="101600" y="1098434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50800" stAng="16200000" swAng="-5400000"/>
                <a:lnTo>
                  <a:pt x="50800" y="996834"/>
                </a:lnTo>
                <a:arcTo hR="101600" wR="50800" stAng="10800000" swAng="-5400000"/>
                <a:close/>
              </a:path>
            </a:pathLst>
          </a:custGeom>
          <a:solidFill>
            <a:srgbClr val="6B46C1"/>
          </a:solidFill>
          <a:ln/>
        </p:spPr>
      </p:sp>
      <p:sp>
        <p:nvSpPr>
          <p:cNvPr id="30" name="Text 27"/>
          <p:cNvSpPr/>
          <p:nvPr/>
        </p:nvSpPr>
        <p:spPr>
          <a:xfrm>
            <a:off x="6425695" y="4089093"/>
            <a:ext cx="4892856" cy="52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100" kern="0" dirty="0">
                <a:solidFill>
                  <a:srgbClr val="6B46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 6 σ</a:t>
            </a:r>
            <a:endParaRPr lang="en-US" sz="3600" dirty="0"/>
          </a:p>
        </p:txBody>
      </p:sp>
      <p:sp>
        <p:nvSpPr>
          <p:cNvPr id="31" name="Text 28"/>
          <p:cNvSpPr/>
          <p:nvPr/>
        </p:nvSpPr>
        <p:spPr>
          <a:xfrm>
            <a:off x="6425695" y="4642734"/>
            <a:ext cx="4892856" cy="265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Turquía 2023 · Grecia 2025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12767" y="6259835"/>
            <a:ext cx="153202" cy="256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300" dirty="0"/>
          </a:p>
        </p:txBody>
      </p:sp>
      <p:pic>
        <p:nvPicPr>
          <p:cNvPr id="33" name="Image 1" descr="Logo INTEC">    </p:cNvPr>
          <p:cNvPicPr>
            <a:picLocks noChangeAspect="1"/>
          </p:cNvPicPr>
          <p:nvPr/>
        </p:nvPicPr>
        <p:blipFill>
          <a:blip r:embed="rId2"/>
          <a:srcRect l="-119" r="-119" t="0" b="0"/>
          <a:stretch/>
        </p:blipFill>
        <p:spPr>
          <a:xfrm>
            <a:off x="1118361" y="6223040"/>
            <a:ext cx="793750" cy="3047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508000"/>
            <a:ext cx="558767" cy="558767"/>
          </a:xfrm>
          <a:custGeom>
            <a:avLst/>
            <a:gdLst/>
            <a:ahLst/>
            <a:cxnLst/>
            <a:rect l="l" t="t" r="r" b="b"/>
            <a:pathLst>
              <a:path w="558767" h="558767">
                <a:moveTo>
                  <a:pt x="279383" y="0"/>
                </a:moveTo>
                <a:lnTo>
                  <a:pt x="279383" y="0"/>
                </a:lnTo>
                <a:arcTo hR="279383" wR="279383" stAng="16200000" swAng="5400000"/>
                <a:lnTo>
                  <a:pt x="558767" y="279383"/>
                </a:lnTo>
                <a:arcTo hR="279383" wR="279383" stAng="0" swAng="5400000"/>
                <a:lnTo>
                  <a:pt x="279383" y="558767"/>
                </a:lnTo>
                <a:arcTo hR="279383" wR="279383" stAng="5400000" swAng="5400000"/>
                <a:lnTo>
                  <a:pt x="0" y="279383"/>
                </a:lnTo>
                <a:arcTo hR="279383" wR="279383" stAng="10800000" swAng="5400000"/>
                <a:close/>
              </a:path>
            </a:pathLst>
          </a:custGeom>
          <a:solidFill>
            <a:srgbClr val="6B46C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392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549301" y="535946"/>
            <a:ext cx="9169350" cy="52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Rendimiento · medido, no supuesto</a:t>
            </a:r>
            <a:endParaRPr lang="en-US" sz="36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-33" r="-33" t="0" b="0"/>
          <a:stretch/>
        </p:blipFill>
        <p:spPr>
          <a:xfrm>
            <a:off x="812767" y="1193766"/>
            <a:ext cx="1016000" cy="380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2767" y="1627312"/>
            <a:ext cx="6350000" cy="2965442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02C">
                <a:alpha val="8000"/>
              </a:srgbClr>
            </a:outerShdw>
          </a:effectLst>
        </p:spPr>
      </p:sp>
      <p:pic>
        <p:nvPicPr>
          <p:cNvPr id="6" name="Image 1" descr="Gráfico de barras con los bloques leídos por consulta, con y sin optimización: la poda de particiones baja de 3 431 a 47 bloques y el índice por magnitud a 758">    </p:cNvPr>
          <p:cNvPicPr>
            <a:picLocks noChangeAspect="1"/>
          </p:cNvPicPr>
          <p:nvPr/>
        </p:nvPicPr>
        <p:blipFill>
          <a:blip r:embed="rId2"/>
          <a:srcRect l="-79" r="-79" t="0" b="0"/>
          <a:stretch/>
        </p:blipFill>
        <p:spPr>
          <a:xfrm>
            <a:off x="819117" y="1633662"/>
            <a:ext cx="6337300" cy="2952742"/>
          </a:xfrm>
          <a:prstGeom prst="roundRect">
            <a:avLst>
              <a:gd name="adj" fmla="val 3226"/>
            </a:avLst>
          </a:prstGeom>
        </p:spPr>
      </p:pic>
      <p:sp>
        <p:nvSpPr>
          <p:cNvPr id="7" name="Shape 3"/>
          <p:cNvSpPr/>
          <p:nvPr/>
        </p:nvSpPr>
        <p:spPr>
          <a:xfrm>
            <a:off x="815942" y="1630487"/>
            <a:ext cx="6343650" cy="2959092"/>
          </a:xfrm>
          <a:prstGeom prst="roundRect">
            <a:avLst>
              <a:gd name="adj" fmla="val 3326"/>
            </a:avLst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467533" y="1485841"/>
            <a:ext cx="4029050" cy="9321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140"/>
              </a:lnSpc>
              <a:buNone/>
            </a:pPr>
            <a:r>
              <a:rPr lang="en-US" sz="6800" b="1" spc="-200" kern="0" dirty="0">
                <a:solidFill>
                  <a:srgbClr val="2F85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−98.6 %</a:t>
            </a:r>
            <a:endParaRPr lang="en-US" sz="6800" dirty="0"/>
          </a:p>
        </p:txBody>
      </p:sp>
      <p:sp>
        <p:nvSpPr>
          <p:cNvPr id="9" name="Text 5"/>
          <p:cNvSpPr/>
          <p:nvPr/>
        </p:nvSpPr>
        <p:spPr>
          <a:xfrm>
            <a:off x="7467533" y="2443386"/>
            <a:ext cx="4029050" cy="539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bloques leídos con poda de particiones (47 frente a 3 431)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467533" y="3262437"/>
            <a:ext cx="4029050" cy="9321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140"/>
              </a:lnSpc>
              <a:buNone/>
            </a:pPr>
            <a:r>
              <a:rPr lang="en-US" sz="6800" b="1" spc="-200" kern="0" dirty="0">
                <a:solidFill>
                  <a:srgbClr val="2F85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−77.9 %</a:t>
            </a:r>
            <a:endParaRPr lang="en-US" sz="6800" dirty="0"/>
          </a:p>
        </p:txBody>
      </p:sp>
      <p:sp>
        <p:nvSpPr>
          <p:cNvPr id="11" name="Text 7"/>
          <p:cNvSpPr/>
          <p:nvPr/>
        </p:nvSpPr>
        <p:spPr>
          <a:xfrm>
            <a:off x="7467533" y="4219978"/>
            <a:ext cx="4029050" cy="539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índice por magnitud (758 frente a 3 431)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12767" y="4988263"/>
            <a:ext cx="10883460" cy="292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tiempos varían entre corridas; los bloques leídos, no.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12767" y="6259835"/>
            <a:ext cx="144272" cy="256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300" dirty="0"/>
          </a:p>
        </p:txBody>
      </p:sp>
      <p:pic>
        <p:nvPicPr>
          <p:cNvPr id="14" name="Image 2" descr="Logo INTEC">    </p:cNvPr>
          <p:cNvPicPr>
            <a:picLocks noChangeAspect="1"/>
          </p:cNvPicPr>
          <p:nvPr/>
        </p:nvPicPr>
        <p:blipFill>
          <a:blip r:embed="rId3"/>
          <a:srcRect l="-119" r="-119" t="0" b="0"/>
          <a:stretch/>
        </p:blipFill>
        <p:spPr>
          <a:xfrm>
            <a:off x="1109431" y="6223040"/>
            <a:ext cx="793750" cy="3047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508000"/>
            <a:ext cx="558767" cy="558767"/>
          </a:xfrm>
          <a:custGeom>
            <a:avLst/>
            <a:gdLst/>
            <a:ahLst/>
            <a:cxnLst/>
            <a:rect l="l" t="t" r="r" b="b"/>
            <a:pathLst>
              <a:path w="558767" h="558767">
                <a:moveTo>
                  <a:pt x="279383" y="0"/>
                </a:moveTo>
                <a:lnTo>
                  <a:pt x="279383" y="0"/>
                </a:lnTo>
                <a:arcTo hR="279383" wR="279383" stAng="16200000" swAng="5400000"/>
                <a:lnTo>
                  <a:pt x="558767" y="279383"/>
                </a:lnTo>
                <a:arcTo hR="279383" wR="279383" stAng="0" swAng="5400000"/>
                <a:lnTo>
                  <a:pt x="279383" y="558767"/>
                </a:lnTo>
                <a:arcTo hR="279383" wR="279383" stAng="5400000" swAng="5400000"/>
                <a:lnTo>
                  <a:pt x="0" y="279383"/>
                </a:lnTo>
                <a:arcTo hR="279383" wR="279383" stAng="10800000" swAng="5400000"/>
                <a:close/>
              </a:path>
            </a:pathLst>
          </a:custGeom>
          <a:solidFill>
            <a:srgbClr val="C5303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392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2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549301" y="535946"/>
            <a:ext cx="9508132" cy="52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Visualización · Grafana como código</a:t>
            </a:r>
            <a:endParaRPr lang="en-US" sz="36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-33" r="-33" t="0" b="0"/>
          <a:stretch/>
        </p:blipFill>
        <p:spPr>
          <a:xfrm>
            <a:off x="812767" y="1193766"/>
            <a:ext cx="1016000" cy="38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767" y="1485841"/>
            <a:ext cx="5284775" cy="345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530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Negocio</a:t>
            </a:r>
            <a:r>
              <a:rPr lang="en-US" sz="180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9 paneles</a:t>
            </a:r>
            <a:endParaRPr lang="en-US" sz="1800" dirty="0"/>
          </a:p>
        </p:txBody>
      </p:sp>
      <p:pic>
        <p:nvPicPr>
          <p:cNvPr id="6" name="Image 1" descr="Captura del dashboard de negocio en Grafana: mapa de epicentros, magnitud contra profundidad, serie de energía y las 12 zonas sísmicas">    </p:cNvPr>
          <p:cNvPicPr>
            <a:picLocks noChangeAspect="1"/>
          </p:cNvPicPr>
          <p:nvPr/>
        </p:nvPicPr>
        <p:blipFill>
          <a:blip r:embed="rId2"/>
          <a:srcRect l="0" r="0" t="41" b="41"/>
          <a:stretch/>
        </p:blipFill>
        <p:spPr>
          <a:xfrm>
            <a:off x="819117" y="1913830"/>
            <a:ext cx="5118067" cy="2876550"/>
          </a:xfrm>
          <a:prstGeom prst="roundRect">
            <a:avLst>
              <a:gd name="adj" fmla="val 3311"/>
            </a:avLst>
          </a:prstGeom>
          <a:effectLst>
            <a:outerShdw sx="100000" sy="100000" kx="0" ky="0" algn="bl" rotWithShape="0" blurRad="101600" dist="25400" dir="5400000">
              <a:srgbClr val="1A202C">
                <a:alpha val="10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815942" y="1910655"/>
            <a:ext cx="5124417" cy="2882900"/>
          </a:xfrm>
          <a:prstGeom prst="roundRect">
            <a:avLst>
              <a:gd name="adj" fmla="val 3414"/>
            </a:avLst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248383" y="1485841"/>
            <a:ext cx="5284775" cy="345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530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Operacional</a:t>
            </a:r>
            <a:r>
              <a:rPr lang="en-US" sz="180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11 paneles</a:t>
            </a:r>
            <a:endParaRPr lang="en-US" sz="1800" dirty="0"/>
          </a:p>
        </p:txBody>
      </p:sp>
      <p:pic>
        <p:nvPicPr>
          <p:cNvPr id="9" name="Image 2" descr="Captura del dashboard operacional en Grafana: 81 044 eventos en la base, latencia de NiFi, duración media de Spark y 0 registros rechazados, con gráficos de throughput y tasas de éxito">    </p:cNvPr>
          <p:cNvPicPr>
            <a:picLocks noChangeAspect="1"/>
          </p:cNvPicPr>
          <p:nvPr/>
        </p:nvPicPr>
        <p:blipFill>
          <a:blip r:embed="rId3"/>
          <a:srcRect l="0" r="0" t="41" b="41"/>
          <a:stretch/>
        </p:blipFill>
        <p:spPr>
          <a:xfrm>
            <a:off x="6254733" y="1913830"/>
            <a:ext cx="5118067" cy="2876550"/>
          </a:xfrm>
          <a:prstGeom prst="roundRect">
            <a:avLst>
              <a:gd name="adj" fmla="val 3311"/>
            </a:avLst>
          </a:prstGeom>
          <a:effectLst>
            <a:outerShdw sx="100000" sy="100000" kx="0" ky="0" algn="bl" rotWithShape="0" blurRad="101600" dist="25400" dir="5400000">
              <a:srgbClr val="1A202C">
                <a:alpha val="10000"/>
              </a:srgbClr>
            </a:outerShdw>
          </a:effectLst>
        </p:spPr>
      </p:pic>
      <p:sp>
        <p:nvSpPr>
          <p:cNvPr id="10" name="Shape 5"/>
          <p:cNvSpPr/>
          <p:nvPr/>
        </p:nvSpPr>
        <p:spPr>
          <a:xfrm>
            <a:off x="6251558" y="1910655"/>
            <a:ext cx="5124417" cy="2882900"/>
          </a:xfrm>
          <a:prstGeom prst="roundRect">
            <a:avLst>
              <a:gd name="adj" fmla="val 3414"/>
            </a:avLst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654270" y="5050730"/>
            <a:ext cx="10883460" cy="292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instalan solos al levantar el sistema · filtros por región, zona y magnitud · actualización automática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12767" y="6259835"/>
            <a:ext cx="152954" cy="256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300" dirty="0"/>
          </a:p>
        </p:txBody>
      </p:sp>
      <p:pic>
        <p:nvPicPr>
          <p:cNvPr id="13" name="Image 3" descr="Logo INTEC">    </p:cNvPr>
          <p:cNvPicPr>
            <a:picLocks noChangeAspect="1"/>
          </p:cNvPicPr>
          <p:nvPr/>
        </p:nvPicPr>
        <p:blipFill>
          <a:blip r:embed="rId4"/>
          <a:srcRect l="-119" r="-119" t="0" b="0"/>
          <a:stretch/>
        </p:blipFill>
        <p:spPr>
          <a:xfrm>
            <a:off x="1118113" y="6223037"/>
            <a:ext cx="793750" cy="3047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67" y="508000"/>
            <a:ext cx="10883460" cy="52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</a:t>
            </a:r>
            <a:endParaRPr lang="en-US" sz="3600" dirty="0"/>
          </a:p>
        </p:txBody>
      </p:sp>
      <p:pic>
        <p:nvPicPr>
          <p:cNvPr id="3" name="Image 0" descr="line">    </p:cNvPr>
          <p:cNvPicPr>
            <a:picLocks noChangeAspect="1"/>
          </p:cNvPicPr>
          <p:nvPr/>
        </p:nvPicPr>
        <p:blipFill>
          <a:blip r:embed="rId1"/>
          <a:srcRect l="-33" r="-33" t="0" b="0"/>
          <a:stretch/>
        </p:blipFill>
        <p:spPr>
          <a:xfrm>
            <a:off x="812767" y="1137872"/>
            <a:ext cx="1016000" cy="380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767" y="1429947"/>
            <a:ext cx="355575" cy="355575"/>
          </a:xfrm>
          <a:custGeom>
            <a:avLst/>
            <a:gdLst/>
            <a:ahLst/>
            <a:cxnLst/>
            <a:rect l="l" t="t" r="r" b="b"/>
            <a:pathLst>
              <a:path w="355575" h="355575">
                <a:moveTo>
                  <a:pt x="177788" y="0"/>
                </a:moveTo>
                <a:lnTo>
                  <a:pt x="177788" y="0"/>
                </a:lnTo>
                <a:arcTo hR="177788" wR="177788" stAng="16200000" swAng="5400000"/>
                <a:lnTo>
                  <a:pt x="355575" y="177788"/>
                </a:lnTo>
                <a:arcTo hR="177788" wR="177788" stAng="0" swAng="5400000"/>
                <a:lnTo>
                  <a:pt x="177788" y="355575"/>
                </a:lnTo>
                <a:arcTo hR="177788" wR="177788" stAng="5400000" swAng="5400000"/>
                <a:lnTo>
                  <a:pt x="0" y="177788"/>
                </a:lnTo>
                <a:arcTo hR="177788" wR="177788" stAng="10800000" swAng="5400000"/>
                <a:close/>
              </a:path>
            </a:pathLst>
          </a:custGeom>
          <a:solidFill>
            <a:srgbClr val="2B6CB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320726" y="1429947"/>
            <a:ext cx="1077557" cy="3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Ingesta</a:t>
            </a:r>
            <a:endParaRPr lang="en-US" sz="2000" dirty="0"/>
          </a:p>
        </p:txBody>
      </p:sp>
      <p:pic>
        <p:nvPicPr>
          <p:cNvPr id="6" name="Image 1" descr="Che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398282" y="1468022"/>
            <a:ext cx="279383" cy="27938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2767" y="1912522"/>
            <a:ext cx="355575" cy="355575"/>
          </a:xfrm>
          <a:custGeom>
            <a:avLst/>
            <a:gdLst/>
            <a:ahLst/>
            <a:cxnLst/>
            <a:rect l="l" t="t" r="r" b="b"/>
            <a:pathLst>
              <a:path w="355575" h="355575">
                <a:moveTo>
                  <a:pt x="177788" y="0"/>
                </a:moveTo>
                <a:lnTo>
                  <a:pt x="177788" y="0"/>
                </a:lnTo>
                <a:arcTo hR="177788" wR="177788" stAng="16200000" swAng="5400000"/>
                <a:lnTo>
                  <a:pt x="355575" y="177788"/>
                </a:lnTo>
                <a:arcTo hR="177788" wR="177788" stAng="0" swAng="5400000"/>
                <a:lnTo>
                  <a:pt x="177788" y="355575"/>
                </a:lnTo>
                <a:arcTo hR="177788" wR="177788" stAng="5400000" swAng="5400000"/>
                <a:lnTo>
                  <a:pt x="0" y="177788"/>
                </a:lnTo>
                <a:arcTo hR="177788" wR="177788" stAng="10800000" swAng="5400000"/>
                <a:close/>
              </a:path>
            </a:pathLst>
          </a:custGeom>
          <a:solidFill>
            <a:srgbClr val="DD6B2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320726" y="1912522"/>
            <a:ext cx="2016910" cy="3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Procesamiento</a:t>
            </a:r>
            <a:endParaRPr lang="en-US" sz="2000" dirty="0"/>
          </a:p>
        </p:txBody>
      </p:sp>
      <p:pic>
        <p:nvPicPr>
          <p:cNvPr id="9" name="Image 2" descr="Che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337636" y="1950597"/>
            <a:ext cx="279383" cy="27938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2767" y="2395097"/>
            <a:ext cx="355575" cy="355575"/>
          </a:xfrm>
          <a:custGeom>
            <a:avLst/>
            <a:gdLst/>
            <a:ahLst/>
            <a:cxnLst/>
            <a:rect l="l" t="t" r="r" b="b"/>
            <a:pathLst>
              <a:path w="355575" h="355575">
                <a:moveTo>
                  <a:pt x="177788" y="0"/>
                </a:moveTo>
                <a:lnTo>
                  <a:pt x="177788" y="0"/>
                </a:lnTo>
                <a:arcTo hR="177788" wR="177788" stAng="16200000" swAng="5400000"/>
                <a:lnTo>
                  <a:pt x="355575" y="177788"/>
                </a:lnTo>
                <a:arcTo hR="177788" wR="177788" stAng="0" swAng="5400000"/>
                <a:lnTo>
                  <a:pt x="177788" y="355575"/>
                </a:lnTo>
                <a:arcTo hR="177788" wR="177788" stAng="5400000" swAng="5400000"/>
                <a:lnTo>
                  <a:pt x="0" y="177788"/>
                </a:lnTo>
                <a:arcTo hR="177788" wR="177788" stAng="10800000" swAng="5400000"/>
                <a:close/>
              </a:path>
            </a:pathLst>
          </a:custGeom>
          <a:solidFill>
            <a:srgbClr val="2F855A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1320726" y="2395097"/>
            <a:ext cx="2252762" cy="3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Almacenamiento</a:t>
            </a:r>
            <a:endParaRPr lang="en-US" sz="2000" dirty="0"/>
          </a:p>
        </p:txBody>
      </p:sp>
      <p:pic>
        <p:nvPicPr>
          <p:cNvPr id="12" name="Image 3" descr="Che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573487" y="2433172"/>
            <a:ext cx="279383" cy="27938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2767" y="2877672"/>
            <a:ext cx="355575" cy="355575"/>
          </a:xfrm>
          <a:custGeom>
            <a:avLst/>
            <a:gdLst/>
            <a:ahLst/>
            <a:cxnLst/>
            <a:rect l="l" t="t" r="r" b="b"/>
            <a:pathLst>
              <a:path w="355575" h="355575">
                <a:moveTo>
                  <a:pt x="177788" y="0"/>
                </a:moveTo>
                <a:lnTo>
                  <a:pt x="177788" y="0"/>
                </a:lnTo>
                <a:arcTo hR="177788" wR="177788" stAng="16200000" swAng="5400000"/>
                <a:lnTo>
                  <a:pt x="355575" y="177788"/>
                </a:lnTo>
                <a:arcTo hR="177788" wR="177788" stAng="0" swAng="5400000"/>
                <a:lnTo>
                  <a:pt x="177788" y="355575"/>
                </a:lnTo>
                <a:arcTo hR="177788" wR="177788" stAng="5400000" swAng="5400000"/>
                <a:lnTo>
                  <a:pt x="0" y="177788"/>
                </a:lnTo>
                <a:arcTo hR="177788" wR="177788" stAng="10800000" swAng="5400000"/>
                <a:close/>
              </a:path>
            </a:pathLst>
          </a:custGeom>
          <a:solidFill>
            <a:srgbClr val="6B46C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1320726" y="2877672"/>
            <a:ext cx="1138866" cy="3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</a:t>
            </a:r>
            <a:endParaRPr lang="en-US" sz="2000" dirty="0"/>
          </a:p>
        </p:txBody>
      </p:sp>
      <p:pic>
        <p:nvPicPr>
          <p:cNvPr id="15" name="Image 4" descr="Che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459591" y="2915748"/>
            <a:ext cx="279383" cy="27938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12767" y="3360248"/>
            <a:ext cx="355575" cy="355575"/>
          </a:xfrm>
          <a:custGeom>
            <a:avLst/>
            <a:gdLst/>
            <a:ahLst/>
            <a:cxnLst/>
            <a:rect l="l" t="t" r="r" b="b"/>
            <a:pathLst>
              <a:path w="355575" h="355575">
                <a:moveTo>
                  <a:pt x="177788" y="0"/>
                </a:moveTo>
                <a:lnTo>
                  <a:pt x="177788" y="0"/>
                </a:lnTo>
                <a:arcTo hR="177788" wR="177788" stAng="16200000" swAng="5400000"/>
                <a:lnTo>
                  <a:pt x="355575" y="177788"/>
                </a:lnTo>
                <a:arcTo hR="177788" wR="177788" stAng="0" swAng="5400000"/>
                <a:lnTo>
                  <a:pt x="177788" y="355575"/>
                </a:lnTo>
                <a:arcTo hR="177788" wR="177788" stAng="5400000" swAng="5400000"/>
                <a:lnTo>
                  <a:pt x="0" y="177788"/>
                </a:lnTo>
                <a:arcTo hR="177788" wR="177788" stAng="10800000" swAng="5400000"/>
                <a:close/>
              </a:path>
            </a:pathLst>
          </a:custGeom>
          <a:solidFill>
            <a:srgbClr val="C5303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1320726" y="3360248"/>
            <a:ext cx="1821739" cy="3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Visualización</a:t>
            </a:r>
            <a:endParaRPr lang="en-US" sz="2000" dirty="0"/>
          </a:p>
        </p:txBody>
      </p:sp>
      <p:pic>
        <p:nvPicPr>
          <p:cNvPr id="18" name="Image 5" descr="Check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142464" y="3398323"/>
            <a:ext cx="279383" cy="27938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636576" y="1429947"/>
            <a:ext cx="591493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i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Tres aprendizajes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5636576" y="1826158"/>
            <a:ext cx="355575" cy="355575"/>
          </a:xfrm>
          <a:custGeom>
            <a:avLst/>
            <a:gdLst/>
            <a:ahLst/>
            <a:cxnLst/>
            <a:rect l="l" t="t" r="r" b="b"/>
            <a:pathLst>
              <a:path w="355575" h="355575">
                <a:moveTo>
                  <a:pt x="177788" y="0"/>
                </a:moveTo>
                <a:lnTo>
                  <a:pt x="177788" y="0"/>
                </a:lnTo>
                <a:arcTo hR="177788" wR="177788" stAng="16200000" swAng="5400000"/>
                <a:lnTo>
                  <a:pt x="355575" y="177788"/>
                </a:lnTo>
                <a:arcTo hR="177788" wR="177788" stAng="0" swAng="5400000"/>
                <a:lnTo>
                  <a:pt x="177788" y="355575"/>
                </a:lnTo>
                <a:arcTo hR="177788" wR="177788" stAng="5400000" swAng="5400000"/>
                <a:lnTo>
                  <a:pt x="0" y="177788"/>
                </a:lnTo>
                <a:arcTo hR="177788" wR="177788" stAng="10800000" swAng="5400000"/>
                <a:close/>
              </a:path>
            </a:pathLst>
          </a:custGeom>
          <a:solidFill>
            <a:srgbClr val="2D374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6144534" y="1826158"/>
            <a:ext cx="5391739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75"/>
              </a:lnSpc>
              <a:buNone/>
            </a:pPr>
            <a:r>
              <a:rPr lang="en-US" sz="190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datos reales exigen desconfianza</a:t>
            </a:r>
            <a:endParaRPr lang="en-US" sz="1900" dirty="0"/>
          </a:p>
        </p:txBody>
      </p:sp>
      <p:sp>
        <p:nvSpPr>
          <p:cNvPr id="22" name="Text 14"/>
          <p:cNvSpPr/>
          <p:nvPr/>
        </p:nvSpPr>
        <p:spPr>
          <a:xfrm>
            <a:off x="5636576" y="2334121"/>
            <a:ext cx="355575" cy="355575"/>
          </a:xfrm>
          <a:custGeom>
            <a:avLst/>
            <a:gdLst/>
            <a:ahLst/>
            <a:cxnLst/>
            <a:rect l="l" t="t" r="r" b="b"/>
            <a:pathLst>
              <a:path w="355575" h="355575">
                <a:moveTo>
                  <a:pt x="177788" y="0"/>
                </a:moveTo>
                <a:lnTo>
                  <a:pt x="177788" y="0"/>
                </a:lnTo>
                <a:arcTo hR="177788" wR="177788" stAng="16200000" swAng="5400000"/>
                <a:lnTo>
                  <a:pt x="355575" y="177788"/>
                </a:lnTo>
                <a:arcTo hR="177788" wR="177788" stAng="0" swAng="5400000"/>
                <a:lnTo>
                  <a:pt x="177788" y="355575"/>
                </a:lnTo>
                <a:arcTo hR="177788" wR="177788" stAng="5400000" swAng="5400000"/>
                <a:lnTo>
                  <a:pt x="0" y="177788"/>
                </a:lnTo>
                <a:arcTo hR="177788" wR="177788" stAng="10800000" swAng="5400000"/>
                <a:close/>
              </a:path>
            </a:pathLst>
          </a:custGeom>
          <a:solidFill>
            <a:srgbClr val="2D374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6144534" y="2334121"/>
            <a:ext cx="5391739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75"/>
              </a:lnSpc>
              <a:buNone/>
            </a:pPr>
            <a:r>
              <a:rPr lang="en-US" sz="190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Idempotencia y trazabilidad dan confianza</a:t>
            </a:r>
            <a:endParaRPr lang="en-US" sz="1900" dirty="0"/>
          </a:p>
        </p:txBody>
      </p:sp>
      <p:sp>
        <p:nvSpPr>
          <p:cNvPr id="24" name="Text 16"/>
          <p:cNvSpPr/>
          <p:nvPr/>
        </p:nvSpPr>
        <p:spPr>
          <a:xfrm>
            <a:off x="5636576" y="2842078"/>
            <a:ext cx="355575" cy="355575"/>
          </a:xfrm>
          <a:custGeom>
            <a:avLst/>
            <a:gdLst/>
            <a:ahLst/>
            <a:cxnLst/>
            <a:rect l="l" t="t" r="r" b="b"/>
            <a:pathLst>
              <a:path w="355575" h="355575">
                <a:moveTo>
                  <a:pt x="177788" y="0"/>
                </a:moveTo>
                <a:lnTo>
                  <a:pt x="177788" y="0"/>
                </a:lnTo>
                <a:arcTo hR="177788" wR="177788" stAng="16200000" swAng="5400000"/>
                <a:lnTo>
                  <a:pt x="355575" y="177788"/>
                </a:lnTo>
                <a:arcTo hR="177788" wR="177788" stAng="0" swAng="5400000"/>
                <a:lnTo>
                  <a:pt x="177788" y="355575"/>
                </a:lnTo>
                <a:arcTo hR="177788" wR="177788" stAng="5400000" swAng="5400000"/>
                <a:lnTo>
                  <a:pt x="0" y="177788"/>
                </a:lnTo>
                <a:arcTo hR="177788" wR="177788" stAng="10800000" swAng="5400000"/>
                <a:close/>
              </a:path>
            </a:pathLst>
          </a:custGeom>
          <a:solidFill>
            <a:srgbClr val="2D374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6144534" y="2842078"/>
            <a:ext cx="6047466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75"/>
              </a:lnSpc>
              <a:buNone/>
            </a:pPr>
            <a:r>
              <a:rPr lang="en-US" sz="190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Verificar de extremo a extremo vale la pena</a:t>
            </a:r>
            <a:endParaRPr lang="en-US" sz="1900" dirty="0"/>
          </a:p>
        </p:txBody>
      </p:sp>
      <p:sp>
        <p:nvSpPr>
          <p:cNvPr id="26" name="Text 18"/>
          <p:cNvSpPr/>
          <p:nvPr/>
        </p:nvSpPr>
        <p:spPr>
          <a:xfrm>
            <a:off x="812767" y="3969823"/>
            <a:ext cx="10566466" cy="655298"/>
          </a:xfrm>
          <a:prstGeom prst="roundRect">
            <a:avLst>
              <a:gd name="adj" fmla="val 19380"/>
            </a:avLst>
          </a:prstGeom>
          <a:solidFill>
            <a:srgbClr val="2D3748"/>
          </a:solidFill>
          <a:ln/>
        </p:spPr>
        <p:txBody>
          <a:bodyPr wrap="square" lIns="267603" tIns="166003" rIns="267603" bIns="140586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u="sng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github.com/ezejivilla-dotcom/proyecto-final-monitor-sismico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812767" y="6259835"/>
            <a:ext cx="153202" cy="256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300" dirty="0"/>
          </a:p>
        </p:txBody>
      </p:sp>
      <p:pic>
        <p:nvPicPr>
          <p:cNvPr id="28" name="Image 6" descr="Logo INTEC">    </p:cNvPr>
          <p:cNvPicPr>
            <a:picLocks noChangeAspect="1"/>
          </p:cNvPicPr>
          <p:nvPr/>
        </p:nvPicPr>
        <p:blipFill>
          <a:blip r:embed="rId8"/>
          <a:srcRect l="-119" r="-119" t="0" b="0"/>
          <a:stretch/>
        </p:blipFill>
        <p:spPr>
          <a:xfrm>
            <a:off x="1118361" y="6223037"/>
            <a:ext cx="793750" cy="3047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onitor Sísmico Global">
  <a:themeElements>
    <a:clrScheme name="Monitor Sísmico Global">
      <a:dk1>
        <a:srgbClr val="2D3748"/>
      </a:dk1>
      <a:lt1>
        <a:srgbClr val="FFFFFF"/>
      </a:lt1>
      <a:dk2>
        <a:srgbClr val="626976"/>
      </a:dk2>
      <a:lt2>
        <a:srgbClr val="EAEBED"/>
      </a:lt2>
      <a:accent1>
        <a:srgbClr val="6B46C1"/>
      </a:accent1>
      <a:accent2>
        <a:srgbClr val="2F855A"/>
      </a:accent2>
      <a:accent3>
        <a:srgbClr val="2B6CB0"/>
      </a:accent3>
      <a:accent4>
        <a:srgbClr val="DD6B20"/>
      </a:accent4>
      <a:accent5>
        <a:srgbClr val="C53030"/>
      </a:accent5>
      <a:accent6>
        <a:srgbClr val="FEFCBF"/>
      </a:accent6>
      <a:hlink>
        <a:srgbClr val="0563C1"/>
      </a:hlink>
      <a:folHlink>
        <a:srgbClr val="954F72"/>
      </a:folHlink>
    </a:clrScheme>
    <a:fontScheme name="Monitor Sísmico Global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Monitor Sísmico Global</dc:title>
  <dc:subject/>
  <dc:creator/>
  <cp:lastModifiedBy/>
  <cp:revision>1</cp:revision>
  <dcterms:created xsi:type="dcterms:W3CDTF">2026-10-17T14:27:54Z</dcterms:created>
  <dcterms:modified xsi:type="dcterms:W3CDTF">2026-10-17T14:27:54Z</dcterms:modified>
</cp:coreProperties>
</file>